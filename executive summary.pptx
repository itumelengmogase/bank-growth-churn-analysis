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7" r:id="rId2"/>
    <p:sldId id="272" r:id="rId3"/>
    <p:sldId id="273" r:id="rId4"/>
    <p:sldId id="274" r:id="rId5"/>
    <p:sldId id="275" r:id="rId6"/>
    <p:sldId id="276" r:id="rId7"/>
    <p:sldId id="277" r:id="rId8"/>
    <p:sldId id="27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40" userDrawn="1">
          <p15:clr>
            <a:srgbClr val="A4A3A4"/>
          </p15:clr>
        </p15:guide>
        <p15:guide id="6" orient="horz" pos="144" userDrawn="1">
          <p15:clr>
            <a:srgbClr val="A4A3A4"/>
          </p15:clr>
        </p15:guide>
        <p15:guide id="7" orient="horz" pos="4104" userDrawn="1">
          <p15:clr>
            <a:srgbClr val="A4A3A4"/>
          </p15:clr>
        </p15:guide>
        <p15:guide id="8" pos="7440" userDrawn="1">
          <p15:clr>
            <a:srgbClr val="A4A3A4"/>
          </p15:clr>
        </p15:guide>
        <p15:guide id="13" orient="horz" pos="1512" userDrawn="1">
          <p15:clr>
            <a:srgbClr val="A4A3A4"/>
          </p15:clr>
        </p15:guide>
        <p15:guide id="17" orient="horz" pos="2376" userDrawn="1">
          <p15:clr>
            <a:srgbClr val="A4A3A4"/>
          </p15:clr>
        </p15:guide>
        <p15:guide id="18" pos="4824" userDrawn="1">
          <p15:clr>
            <a:srgbClr val="A4A3A4"/>
          </p15:clr>
        </p15:guide>
        <p15:guide id="20" pos="2016" userDrawn="1">
          <p15:clr>
            <a:srgbClr val="A4A3A4"/>
          </p15:clr>
        </p15:guide>
        <p15:guide id="21" orient="horz" pos="1680" userDrawn="1">
          <p15:clr>
            <a:srgbClr val="A4A3A4"/>
          </p15:clr>
        </p15:guide>
        <p15:guide id="22" orient="horz" pos="1008" userDrawn="1">
          <p15:clr>
            <a:srgbClr val="A4A3A4"/>
          </p15:clr>
        </p15:guide>
        <p15:guide id="23" pos="408" userDrawn="1">
          <p15:clr>
            <a:srgbClr val="A4A3A4"/>
          </p15:clr>
        </p15:guide>
        <p15:guide id="24" orient="horz" pos="792" userDrawn="1">
          <p15:clr>
            <a:srgbClr val="A4A3A4"/>
          </p15:clr>
        </p15:guide>
        <p15:guide id="25" orient="horz" pos="2760" userDrawn="1">
          <p15:clr>
            <a:srgbClr val="A4A3A4"/>
          </p15:clr>
        </p15:guide>
        <p15:guide id="26" orient="horz" pos="3024" userDrawn="1">
          <p15:clr>
            <a:srgbClr val="A4A3A4"/>
          </p15:clr>
        </p15:guide>
        <p15:guide id="27" pos="3840" userDrawn="1">
          <p15:clr>
            <a:srgbClr val="A4A3A4"/>
          </p15:clr>
        </p15:guide>
        <p15:guide id="28" orient="horz" pos="22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353F"/>
    <a:srgbClr val="43CDD9"/>
    <a:srgbClr val="667181"/>
    <a:srgbClr val="BABABA"/>
    <a:srgbClr val="DBDBDB"/>
    <a:srgbClr val="85E0E7"/>
    <a:srgbClr val="515A6B"/>
    <a:srgbClr val="AFBBBD"/>
    <a:srgbClr val="8FA0A3"/>
    <a:srgbClr val="5FD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52" autoAdjust="0"/>
  </p:normalViewPr>
  <p:slideViewPr>
    <p:cSldViewPr snapToGrid="0" showGuides="1">
      <p:cViewPr varScale="1">
        <p:scale>
          <a:sx n="76" d="100"/>
          <a:sy n="76" d="100"/>
        </p:scale>
        <p:origin x="126" y="1932"/>
      </p:cViewPr>
      <p:guideLst>
        <p:guide pos="240"/>
        <p:guide orient="horz" pos="144"/>
        <p:guide orient="horz" pos="4104"/>
        <p:guide pos="7440"/>
        <p:guide orient="horz" pos="1512"/>
        <p:guide orient="horz" pos="2376"/>
        <p:guide pos="4824"/>
        <p:guide pos="2016"/>
        <p:guide orient="horz" pos="1680"/>
        <p:guide orient="horz" pos="1008"/>
        <p:guide pos="408"/>
        <p:guide orient="horz" pos="792"/>
        <p:guide orient="horz" pos="2760"/>
        <p:guide orient="horz" pos="3024"/>
        <p:guide pos="3840"/>
        <p:guide orient="horz" pos="22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1C655F-54C7-4D03-AD26-E0C40F01563A}" type="datetimeFigureOut">
              <a:rPr lang="id-ID" smtClean="0"/>
              <a:t>29/10/2025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34AC2-3728-4A8B-B58F-6888FAEC3D2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86178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058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39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068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83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618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641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328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3B832CC-E04A-47A7-966D-475AEA6409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9139" y="2491272"/>
            <a:ext cx="2807036" cy="2804628"/>
          </a:xfrm>
          <a:custGeom>
            <a:avLst/>
            <a:gdLst>
              <a:gd name="connsiteX0" fmla="*/ 1406866 w 2807036"/>
              <a:gd name="connsiteY0" fmla="*/ 0 h 2804628"/>
              <a:gd name="connsiteX1" fmla="*/ 2061159 w 2807036"/>
              <a:gd name="connsiteY1" fmla="*/ 271017 h 2804628"/>
              <a:gd name="connsiteX2" fmla="*/ 2542705 w 2807036"/>
              <a:gd name="connsiteY2" fmla="*/ 752562 h 2804628"/>
              <a:gd name="connsiteX3" fmla="*/ 2796783 w 2807036"/>
              <a:gd name="connsiteY3" fmla="*/ 1230127 h 2804628"/>
              <a:gd name="connsiteX4" fmla="*/ 2807036 w 2807036"/>
              <a:gd name="connsiteY4" fmla="*/ 1301178 h 2804628"/>
              <a:gd name="connsiteX5" fmla="*/ 2807036 w 2807036"/>
              <a:gd name="connsiteY5" fmla="*/ 1512532 h 2804628"/>
              <a:gd name="connsiteX6" fmla="*/ 2796783 w 2807036"/>
              <a:gd name="connsiteY6" fmla="*/ 1583584 h 2804628"/>
              <a:gd name="connsiteX7" fmla="*/ 2542705 w 2807036"/>
              <a:gd name="connsiteY7" fmla="*/ 2061148 h 2804628"/>
              <a:gd name="connsiteX8" fmla="*/ 2061149 w 2807036"/>
              <a:gd name="connsiteY8" fmla="*/ 2542704 h 2804628"/>
              <a:gd name="connsiteX9" fmla="*/ 1583585 w 2807036"/>
              <a:gd name="connsiteY9" fmla="*/ 2796782 h 2804628"/>
              <a:gd name="connsiteX10" fmla="*/ 1529213 w 2807036"/>
              <a:gd name="connsiteY10" fmla="*/ 2804628 h 2804628"/>
              <a:gd name="connsiteX11" fmla="*/ 1284499 w 2807036"/>
              <a:gd name="connsiteY11" fmla="*/ 2804628 h 2804628"/>
              <a:gd name="connsiteX12" fmla="*/ 1230128 w 2807036"/>
              <a:gd name="connsiteY12" fmla="*/ 2796782 h 2804628"/>
              <a:gd name="connsiteX13" fmla="*/ 752563 w 2807036"/>
              <a:gd name="connsiteY13" fmla="*/ 2542704 h 2804628"/>
              <a:gd name="connsiteX14" fmla="*/ 271018 w 2807036"/>
              <a:gd name="connsiteY14" fmla="*/ 2061158 h 2804628"/>
              <a:gd name="connsiteX15" fmla="*/ 271018 w 2807036"/>
              <a:gd name="connsiteY15" fmla="*/ 752572 h 2804628"/>
              <a:gd name="connsiteX16" fmla="*/ 752573 w 2807036"/>
              <a:gd name="connsiteY16" fmla="*/ 271017 h 2804628"/>
              <a:gd name="connsiteX17" fmla="*/ 1406866 w 2807036"/>
              <a:gd name="connsiteY17" fmla="*/ 0 h 2804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7036" h="2804628">
                <a:moveTo>
                  <a:pt x="1406866" y="0"/>
                </a:moveTo>
                <a:cubicBezTo>
                  <a:pt x="1643674" y="0"/>
                  <a:pt x="1880481" y="90339"/>
                  <a:pt x="2061159" y="271017"/>
                </a:cubicBezTo>
                <a:lnTo>
                  <a:pt x="2542705" y="752562"/>
                </a:lnTo>
                <a:cubicBezTo>
                  <a:pt x="2678213" y="888071"/>
                  <a:pt x="2762906" y="1055152"/>
                  <a:pt x="2796783" y="1230127"/>
                </a:cubicBezTo>
                <a:lnTo>
                  <a:pt x="2807036" y="1301178"/>
                </a:lnTo>
                <a:lnTo>
                  <a:pt x="2807036" y="1512532"/>
                </a:lnTo>
                <a:lnTo>
                  <a:pt x="2796783" y="1583584"/>
                </a:lnTo>
                <a:cubicBezTo>
                  <a:pt x="2762906" y="1758558"/>
                  <a:pt x="2678213" y="1925640"/>
                  <a:pt x="2542705" y="2061148"/>
                </a:cubicBezTo>
                <a:lnTo>
                  <a:pt x="2061149" y="2542704"/>
                </a:lnTo>
                <a:cubicBezTo>
                  <a:pt x="1925641" y="2678212"/>
                  <a:pt x="1758559" y="2762905"/>
                  <a:pt x="1583585" y="2796782"/>
                </a:cubicBezTo>
                <a:lnTo>
                  <a:pt x="1529213" y="2804628"/>
                </a:lnTo>
                <a:lnTo>
                  <a:pt x="1284499" y="2804628"/>
                </a:lnTo>
                <a:lnTo>
                  <a:pt x="1230128" y="2796782"/>
                </a:lnTo>
                <a:cubicBezTo>
                  <a:pt x="1055153" y="2762905"/>
                  <a:pt x="888072" y="2678212"/>
                  <a:pt x="752563" y="2542704"/>
                </a:cubicBezTo>
                <a:lnTo>
                  <a:pt x="271018" y="2061158"/>
                </a:lnTo>
                <a:cubicBezTo>
                  <a:pt x="-90339" y="1699802"/>
                  <a:pt x="-90339" y="1113928"/>
                  <a:pt x="271018" y="752572"/>
                </a:cubicBezTo>
                <a:lnTo>
                  <a:pt x="752573" y="271017"/>
                </a:lnTo>
                <a:cubicBezTo>
                  <a:pt x="933252" y="90339"/>
                  <a:pt x="1170059" y="0"/>
                  <a:pt x="140686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23B832CC-E04A-47A7-966D-475AEA6409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25882" y="2491272"/>
            <a:ext cx="2807036" cy="2804628"/>
          </a:xfrm>
          <a:custGeom>
            <a:avLst/>
            <a:gdLst>
              <a:gd name="connsiteX0" fmla="*/ 1406866 w 2807036"/>
              <a:gd name="connsiteY0" fmla="*/ 0 h 2804628"/>
              <a:gd name="connsiteX1" fmla="*/ 2061159 w 2807036"/>
              <a:gd name="connsiteY1" fmla="*/ 271017 h 2804628"/>
              <a:gd name="connsiteX2" fmla="*/ 2542705 w 2807036"/>
              <a:gd name="connsiteY2" fmla="*/ 752562 h 2804628"/>
              <a:gd name="connsiteX3" fmla="*/ 2796783 w 2807036"/>
              <a:gd name="connsiteY3" fmla="*/ 1230127 h 2804628"/>
              <a:gd name="connsiteX4" fmla="*/ 2807036 w 2807036"/>
              <a:gd name="connsiteY4" fmla="*/ 1301178 h 2804628"/>
              <a:gd name="connsiteX5" fmla="*/ 2807036 w 2807036"/>
              <a:gd name="connsiteY5" fmla="*/ 1512532 h 2804628"/>
              <a:gd name="connsiteX6" fmla="*/ 2796783 w 2807036"/>
              <a:gd name="connsiteY6" fmla="*/ 1583584 h 2804628"/>
              <a:gd name="connsiteX7" fmla="*/ 2542705 w 2807036"/>
              <a:gd name="connsiteY7" fmla="*/ 2061148 h 2804628"/>
              <a:gd name="connsiteX8" fmla="*/ 2061149 w 2807036"/>
              <a:gd name="connsiteY8" fmla="*/ 2542704 h 2804628"/>
              <a:gd name="connsiteX9" fmla="*/ 1583585 w 2807036"/>
              <a:gd name="connsiteY9" fmla="*/ 2796782 h 2804628"/>
              <a:gd name="connsiteX10" fmla="*/ 1529213 w 2807036"/>
              <a:gd name="connsiteY10" fmla="*/ 2804628 h 2804628"/>
              <a:gd name="connsiteX11" fmla="*/ 1284499 w 2807036"/>
              <a:gd name="connsiteY11" fmla="*/ 2804628 h 2804628"/>
              <a:gd name="connsiteX12" fmla="*/ 1230128 w 2807036"/>
              <a:gd name="connsiteY12" fmla="*/ 2796782 h 2804628"/>
              <a:gd name="connsiteX13" fmla="*/ 752563 w 2807036"/>
              <a:gd name="connsiteY13" fmla="*/ 2542704 h 2804628"/>
              <a:gd name="connsiteX14" fmla="*/ 271018 w 2807036"/>
              <a:gd name="connsiteY14" fmla="*/ 2061158 h 2804628"/>
              <a:gd name="connsiteX15" fmla="*/ 271018 w 2807036"/>
              <a:gd name="connsiteY15" fmla="*/ 752572 h 2804628"/>
              <a:gd name="connsiteX16" fmla="*/ 752573 w 2807036"/>
              <a:gd name="connsiteY16" fmla="*/ 271017 h 2804628"/>
              <a:gd name="connsiteX17" fmla="*/ 1406866 w 2807036"/>
              <a:gd name="connsiteY17" fmla="*/ 0 h 2804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7036" h="2804628">
                <a:moveTo>
                  <a:pt x="1406866" y="0"/>
                </a:moveTo>
                <a:cubicBezTo>
                  <a:pt x="1643674" y="0"/>
                  <a:pt x="1880481" y="90339"/>
                  <a:pt x="2061159" y="271017"/>
                </a:cubicBezTo>
                <a:lnTo>
                  <a:pt x="2542705" y="752562"/>
                </a:lnTo>
                <a:cubicBezTo>
                  <a:pt x="2678213" y="888071"/>
                  <a:pt x="2762906" y="1055152"/>
                  <a:pt x="2796783" y="1230127"/>
                </a:cubicBezTo>
                <a:lnTo>
                  <a:pt x="2807036" y="1301178"/>
                </a:lnTo>
                <a:lnTo>
                  <a:pt x="2807036" y="1512532"/>
                </a:lnTo>
                <a:lnTo>
                  <a:pt x="2796783" y="1583584"/>
                </a:lnTo>
                <a:cubicBezTo>
                  <a:pt x="2762906" y="1758558"/>
                  <a:pt x="2678213" y="1925640"/>
                  <a:pt x="2542705" y="2061148"/>
                </a:cubicBezTo>
                <a:lnTo>
                  <a:pt x="2061149" y="2542704"/>
                </a:lnTo>
                <a:cubicBezTo>
                  <a:pt x="1925641" y="2678212"/>
                  <a:pt x="1758559" y="2762905"/>
                  <a:pt x="1583585" y="2796782"/>
                </a:cubicBezTo>
                <a:lnTo>
                  <a:pt x="1529213" y="2804628"/>
                </a:lnTo>
                <a:lnTo>
                  <a:pt x="1284499" y="2804628"/>
                </a:lnTo>
                <a:lnTo>
                  <a:pt x="1230128" y="2796782"/>
                </a:lnTo>
                <a:cubicBezTo>
                  <a:pt x="1055153" y="2762905"/>
                  <a:pt x="888072" y="2678212"/>
                  <a:pt x="752563" y="2542704"/>
                </a:cubicBezTo>
                <a:lnTo>
                  <a:pt x="271018" y="2061158"/>
                </a:lnTo>
                <a:cubicBezTo>
                  <a:pt x="-90339" y="1699802"/>
                  <a:pt x="-90339" y="1113928"/>
                  <a:pt x="271018" y="752572"/>
                </a:cubicBezTo>
                <a:lnTo>
                  <a:pt x="752573" y="271017"/>
                </a:lnTo>
                <a:cubicBezTo>
                  <a:pt x="933252" y="90339"/>
                  <a:pt x="1170059" y="0"/>
                  <a:pt x="140686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reeform: Shape 7">
            <a:extLst>
              <a:ext uri="{FF2B5EF4-FFF2-40B4-BE49-F238E27FC236}">
                <a16:creationId xmlns:a16="http://schemas.microsoft.com/office/drawing/2014/main" id="{23B832CC-E04A-47A7-966D-475AEA6409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52396" y="2491272"/>
            <a:ext cx="2807036" cy="2804628"/>
          </a:xfrm>
          <a:custGeom>
            <a:avLst/>
            <a:gdLst>
              <a:gd name="connsiteX0" fmla="*/ 1406866 w 2807036"/>
              <a:gd name="connsiteY0" fmla="*/ 0 h 2804628"/>
              <a:gd name="connsiteX1" fmla="*/ 2061159 w 2807036"/>
              <a:gd name="connsiteY1" fmla="*/ 271017 h 2804628"/>
              <a:gd name="connsiteX2" fmla="*/ 2542705 w 2807036"/>
              <a:gd name="connsiteY2" fmla="*/ 752562 h 2804628"/>
              <a:gd name="connsiteX3" fmla="*/ 2796783 w 2807036"/>
              <a:gd name="connsiteY3" fmla="*/ 1230127 h 2804628"/>
              <a:gd name="connsiteX4" fmla="*/ 2807036 w 2807036"/>
              <a:gd name="connsiteY4" fmla="*/ 1301178 h 2804628"/>
              <a:gd name="connsiteX5" fmla="*/ 2807036 w 2807036"/>
              <a:gd name="connsiteY5" fmla="*/ 1512532 h 2804628"/>
              <a:gd name="connsiteX6" fmla="*/ 2796783 w 2807036"/>
              <a:gd name="connsiteY6" fmla="*/ 1583584 h 2804628"/>
              <a:gd name="connsiteX7" fmla="*/ 2542705 w 2807036"/>
              <a:gd name="connsiteY7" fmla="*/ 2061148 h 2804628"/>
              <a:gd name="connsiteX8" fmla="*/ 2061149 w 2807036"/>
              <a:gd name="connsiteY8" fmla="*/ 2542704 h 2804628"/>
              <a:gd name="connsiteX9" fmla="*/ 1583585 w 2807036"/>
              <a:gd name="connsiteY9" fmla="*/ 2796782 h 2804628"/>
              <a:gd name="connsiteX10" fmla="*/ 1529213 w 2807036"/>
              <a:gd name="connsiteY10" fmla="*/ 2804628 h 2804628"/>
              <a:gd name="connsiteX11" fmla="*/ 1284499 w 2807036"/>
              <a:gd name="connsiteY11" fmla="*/ 2804628 h 2804628"/>
              <a:gd name="connsiteX12" fmla="*/ 1230128 w 2807036"/>
              <a:gd name="connsiteY12" fmla="*/ 2796782 h 2804628"/>
              <a:gd name="connsiteX13" fmla="*/ 752563 w 2807036"/>
              <a:gd name="connsiteY13" fmla="*/ 2542704 h 2804628"/>
              <a:gd name="connsiteX14" fmla="*/ 271018 w 2807036"/>
              <a:gd name="connsiteY14" fmla="*/ 2061158 h 2804628"/>
              <a:gd name="connsiteX15" fmla="*/ 271018 w 2807036"/>
              <a:gd name="connsiteY15" fmla="*/ 752572 h 2804628"/>
              <a:gd name="connsiteX16" fmla="*/ 752573 w 2807036"/>
              <a:gd name="connsiteY16" fmla="*/ 271017 h 2804628"/>
              <a:gd name="connsiteX17" fmla="*/ 1406866 w 2807036"/>
              <a:gd name="connsiteY17" fmla="*/ 0 h 2804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7036" h="2804628">
                <a:moveTo>
                  <a:pt x="1406866" y="0"/>
                </a:moveTo>
                <a:cubicBezTo>
                  <a:pt x="1643674" y="0"/>
                  <a:pt x="1880481" y="90339"/>
                  <a:pt x="2061159" y="271017"/>
                </a:cubicBezTo>
                <a:lnTo>
                  <a:pt x="2542705" y="752562"/>
                </a:lnTo>
                <a:cubicBezTo>
                  <a:pt x="2678213" y="888071"/>
                  <a:pt x="2762906" y="1055152"/>
                  <a:pt x="2796783" y="1230127"/>
                </a:cubicBezTo>
                <a:lnTo>
                  <a:pt x="2807036" y="1301178"/>
                </a:lnTo>
                <a:lnTo>
                  <a:pt x="2807036" y="1512532"/>
                </a:lnTo>
                <a:lnTo>
                  <a:pt x="2796783" y="1583584"/>
                </a:lnTo>
                <a:cubicBezTo>
                  <a:pt x="2762906" y="1758558"/>
                  <a:pt x="2678213" y="1925640"/>
                  <a:pt x="2542705" y="2061148"/>
                </a:cubicBezTo>
                <a:lnTo>
                  <a:pt x="2061149" y="2542704"/>
                </a:lnTo>
                <a:cubicBezTo>
                  <a:pt x="1925641" y="2678212"/>
                  <a:pt x="1758559" y="2762905"/>
                  <a:pt x="1583585" y="2796782"/>
                </a:cubicBezTo>
                <a:lnTo>
                  <a:pt x="1529213" y="2804628"/>
                </a:lnTo>
                <a:lnTo>
                  <a:pt x="1284499" y="2804628"/>
                </a:lnTo>
                <a:lnTo>
                  <a:pt x="1230128" y="2796782"/>
                </a:lnTo>
                <a:cubicBezTo>
                  <a:pt x="1055153" y="2762905"/>
                  <a:pt x="888072" y="2678212"/>
                  <a:pt x="752563" y="2542704"/>
                </a:cubicBezTo>
                <a:lnTo>
                  <a:pt x="271018" y="2061158"/>
                </a:lnTo>
                <a:cubicBezTo>
                  <a:pt x="-90339" y="1699802"/>
                  <a:pt x="-90339" y="1113928"/>
                  <a:pt x="271018" y="752572"/>
                </a:cubicBezTo>
                <a:lnTo>
                  <a:pt x="752573" y="271017"/>
                </a:lnTo>
                <a:cubicBezTo>
                  <a:pt x="933252" y="90339"/>
                  <a:pt x="1170059" y="0"/>
                  <a:pt x="140686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995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594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47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20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96FE2-9E77-4834-9C6B-212E105629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131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96FE2-9E77-4834-9C6B-212E105629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8E537-E56B-49CA-B596-52598082F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75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4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24slides.com/?utm_campaign=mp&amp;utm_medium=ppt&amp;utm_source=pptlink&amp;utm_content=&amp;utm_term=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and white photo of a city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0">
            <a:gsLst>
              <a:gs pos="100000">
                <a:srgbClr val="1F2229">
                  <a:alpha val="60000"/>
                </a:srgbClr>
              </a:gs>
              <a:gs pos="20000">
                <a:srgbClr val="1F2229">
                  <a:alpha val="91765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71850" y="3696200"/>
            <a:ext cx="7848302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tabLst>
                <a:tab pos="347663" algn="l"/>
              </a:tabLst>
            </a:pPr>
            <a:r>
              <a:rPr lang="en-GB" sz="3600" b="1" dirty="0">
                <a:solidFill>
                  <a:schemeClr val="bg1"/>
                </a:solidFill>
                <a:latin typeface="+mj-lt"/>
              </a:rPr>
              <a:t>Turning Data into Action: Reducing </a:t>
            </a:r>
          </a:p>
          <a:p>
            <a:pPr algn="ctr">
              <a:tabLst>
                <a:tab pos="347663" algn="l"/>
              </a:tabLst>
            </a:pPr>
            <a:r>
              <a:rPr lang="en-GB" sz="3600" b="1" dirty="0">
                <a:solidFill>
                  <a:schemeClr val="bg1"/>
                </a:solidFill>
                <a:latin typeface="+mj-lt"/>
              </a:rPr>
              <a:t>Churn and Maximising Profitability</a:t>
            </a:r>
            <a:endParaRPr lang="en-US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Oval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7640" y="2479683"/>
            <a:ext cx="876722" cy="876720"/>
          </a:xfrm>
          <a:prstGeom prst="ellipse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3971" y="2565407"/>
            <a:ext cx="705274" cy="705272"/>
          </a:xfrm>
          <a:prstGeom prst="ellipse">
            <a:avLst/>
          </a:prstGeom>
          <a:solidFill>
            <a:srgbClr val="43CDD9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2756" y="2565407"/>
            <a:ext cx="705274" cy="705272"/>
          </a:xfrm>
          <a:prstGeom prst="ellipse">
            <a:avLst/>
          </a:prstGeom>
          <a:solidFill>
            <a:srgbClr val="43CDD9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hlinkClick r:id="rId3"/>
            <a:extLst>
              <a:ext uri="{FF2B5EF4-FFF2-40B4-BE49-F238E27FC236}">
                <a16:creationId xmlns:a16="http://schemas.microsoft.com/office/drawing/2014/main" id="{DEBE08FE-8856-B14C-A309-36A662725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621" y="6235363"/>
            <a:ext cx="1028700" cy="293902"/>
          </a:xfrm>
          <a:prstGeom prst="rect">
            <a:avLst/>
          </a:prstGeom>
          <a:effectLst/>
        </p:spPr>
      </p:pic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80AA5C56-EC57-4914-8118-68854697E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</a:t>
            </a:r>
          </a:p>
        </p:txBody>
      </p:sp>
    </p:spTree>
    <p:extLst>
      <p:ext uri="{BB962C8B-B14F-4D97-AF65-F5344CB8AC3E}">
        <p14:creationId xmlns:p14="http://schemas.microsoft.com/office/powerpoint/2010/main" val="735082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7E11FA-8868-EF61-577B-6121F10DC347}"/>
              </a:ext>
            </a:extLst>
          </p:cNvPr>
          <p:cNvSpPr txBox="1"/>
          <p:nvPr/>
        </p:nvSpPr>
        <p:spPr>
          <a:xfrm>
            <a:off x="965200" y="431800"/>
            <a:ext cx="99695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Content:</a:t>
            </a:r>
          </a:p>
          <a:p>
            <a:endParaRPr lang="en-GB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Churn has risen to 6.9%</a:t>
            </a:r>
            <a:r>
              <a:rPr lang="en-GB" sz="2400" dirty="0"/>
              <a:t>, exceeding the 6% alert threshold.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Referral customers</a:t>
            </a:r>
            <a:r>
              <a:rPr lang="en-GB" sz="2400" dirty="0"/>
              <a:t> deliver </a:t>
            </a:r>
            <a:r>
              <a:rPr lang="en-GB" sz="2400" b="1" dirty="0"/>
              <a:t>3.7× higher LTV:CAC</a:t>
            </a:r>
            <a:r>
              <a:rPr lang="en-GB" sz="2400" dirty="0"/>
              <a:t> — the most profitable channel.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Social Media campaigns</a:t>
            </a:r>
            <a:r>
              <a:rPr lang="en-GB" sz="2400" dirty="0"/>
              <a:t> show </a:t>
            </a:r>
            <a:r>
              <a:rPr lang="en-GB" sz="2400" b="1" dirty="0"/>
              <a:t>poor conversion (12%)</a:t>
            </a:r>
            <a:r>
              <a:rPr lang="en-GB" sz="2400" dirty="0"/>
              <a:t> and </a:t>
            </a:r>
            <a:r>
              <a:rPr lang="en-GB" sz="2400" b="1" dirty="0"/>
              <a:t>lowest retention</a:t>
            </a:r>
            <a:r>
              <a:rPr lang="en-GB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Reducing churn by just </a:t>
            </a:r>
            <a:r>
              <a:rPr lang="en-GB" sz="2400" b="1" dirty="0"/>
              <a:t>0.5% saves ~R400 000 annually</a:t>
            </a:r>
            <a:r>
              <a:rPr lang="en-GB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Requires </a:t>
            </a:r>
            <a:r>
              <a:rPr lang="en-GB" sz="2400" b="1" dirty="0"/>
              <a:t>2 additional FTEs</a:t>
            </a:r>
            <a:r>
              <a:rPr lang="en-GB" sz="2400" dirty="0"/>
              <a:t> to support customer activation programme.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b="1" dirty="0"/>
              <a:t>Talking Points:</a:t>
            </a:r>
          </a:p>
          <a:p>
            <a:endParaRPr lang="en-GB" sz="2400" dirty="0"/>
          </a:p>
          <a:p>
            <a:r>
              <a:rPr lang="en-GB" sz="2400" dirty="0"/>
              <a:t>Our data shows customer churn increasing since May, coinciding with staff changes. We identified that Referral channels are highly efficient, while Social Media investments underperform. A small churn reduction has a major financial impact.</a:t>
            </a:r>
          </a:p>
        </p:txBody>
      </p:sp>
    </p:spTree>
    <p:extLst>
      <p:ext uri="{BB962C8B-B14F-4D97-AF65-F5344CB8AC3E}">
        <p14:creationId xmlns:p14="http://schemas.microsoft.com/office/powerpoint/2010/main" val="212373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0E2D64-9E91-AFF8-55F6-51A506BC9C54}"/>
              </a:ext>
            </a:extLst>
          </p:cNvPr>
          <p:cNvSpPr txBox="1"/>
          <p:nvPr/>
        </p:nvSpPr>
        <p:spPr>
          <a:xfrm>
            <a:off x="558800" y="546100"/>
            <a:ext cx="110109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Content:</a:t>
            </a:r>
          </a:p>
          <a:p>
            <a:endParaRPr lang="en-GB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Churn rate increased </a:t>
            </a:r>
            <a:r>
              <a:rPr lang="en-GB" sz="2800" b="1" dirty="0"/>
              <a:t>from 5.8% to 6.9%</a:t>
            </a:r>
            <a:r>
              <a:rPr lang="en-GB" sz="2800" dirty="0"/>
              <a:t> post-May.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The jump followed </a:t>
            </a:r>
            <a:r>
              <a:rPr lang="en-GB" sz="2800" b="1" dirty="0"/>
              <a:t>two labour changes in Customer Success</a:t>
            </a:r>
            <a:r>
              <a:rPr lang="en-GB" sz="2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Recovery efforts are underway, but retention remains below benchmark.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800" b="1" dirty="0"/>
              <a:t>Talking Points:</a:t>
            </a:r>
            <a:endParaRPr lang="en-GB" sz="2800" dirty="0"/>
          </a:p>
          <a:p>
            <a:r>
              <a:rPr lang="en-GB" sz="2800" dirty="0"/>
              <a:t>The spike is not random. It correlates directly with reduced customer engagement capacity after staff transitions. This visual highlights the urgency — retention is our biggest opportunity.</a:t>
            </a:r>
          </a:p>
          <a:p>
            <a:endParaRPr lang="en-ZA" sz="2800" dirty="0"/>
          </a:p>
        </p:txBody>
      </p:sp>
    </p:spTree>
    <p:extLst>
      <p:ext uri="{BB962C8B-B14F-4D97-AF65-F5344CB8AC3E}">
        <p14:creationId xmlns:p14="http://schemas.microsoft.com/office/powerpoint/2010/main" val="1336393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049178-D57A-A902-A767-BC493376785A}"/>
              </a:ext>
            </a:extLst>
          </p:cNvPr>
          <p:cNvSpPr txBox="1"/>
          <p:nvPr/>
        </p:nvSpPr>
        <p:spPr>
          <a:xfrm>
            <a:off x="977900" y="546100"/>
            <a:ext cx="102997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Content:</a:t>
            </a:r>
          </a:p>
          <a:p>
            <a:endParaRPr lang="en-GB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/>
              <a:t>Referral:</a:t>
            </a:r>
            <a:r>
              <a:rPr lang="en-GB" sz="2800" dirty="0"/>
              <a:t> 82% conversion — highest ROI.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/>
              <a:t>Email Marketing:</a:t>
            </a:r>
            <a:r>
              <a:rPr lang="en-GB" sz="2800" dirty="0"/>
              <a:t> solid at 45%.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/>
              <a:t>Social Media:</a:t>
            </a:r>
            <a:r>
              <a:rPr lang="en-GB" sz="2800" dirty="0"/>
              <a:t> lowest at 12% despite high spend.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Channel quality scores align with conversion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dirty="0"/>
          </a:p>
          <a:p>
            <a:endParaRPr lang="en-GB" sz="2800" dirty="0"/>
          </a:p>
          <a:p>
            <a:r>
              <a:rPr lang="en-GB" sz="2800" b="1" dirty="0"/>
              <a:t>Talking Points:</a:t>
            </a:r>
            <a:endParaRPr lang="en-GB" sz="2800" dirty="0"/>
          </a:p>
          <a:p>
            <a:r>
              <a:rPr lang="en-GB" sz="2800" dirty="0"/>
              <a:t>This comparison focuses attention on quality, not just quantity. Referral-based growth yields high-value customers at a low cost. Social Media acquisition appears inefficient and needs review.</a:t>
            </a:r>
          </a:p>
          <a:p>
            <a:endParaRPr lang="en-ZA" sz="2800" dirty="0"/>
          </a:p>
        </p:txBody>
      </p:sp>
    </p:spTree>
    <p:extLst>
      <p:ext uri="{BB962C8B-B14F-4D97-AF65-F5344CB8AC3E}">
        <p14:creationId xmlns:p14="http://schemas.microsoft.com/office/powerpoint/2010/main" val="738943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B0AFBC-8FA0-F296-FAA3-386A03F5B94F}"/>
              </a:ext>
            </a:extLst>
          </p:cNvPr>
          <p:cNvSpPr txBox="1"/>
          <p:nvPr/>
        </p:nvSpPr>
        <p:spPr>
          <a:xfrm>
            <a:off x="1079500" y="660400"/>
            <a:ext cx="95123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Content: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Healthy benchmark = </a:t>
            </a:r>
            <a:r>
              <a:rPr lang="en-GB" sz="2800" b="1" dirty="0"/>
              <a:t>3:1 ratio</a:t>
            </a:r>
            <a:r>
              <a:rPr lang="en-GB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Referral channel = 3.7× (excellent)</a:t>
            </a:r>
            <a:r>
              <a:rPr lang="en-GB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Email = 1.7× (good)</a:t>
            </a:r>
            <a:r>
              <a:rPr lang="en-GB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Paid Search = 0.9× (below break-even)</a:t>
            </a:r>
            <a:r>
              <a:rPr lang="en-GB" sz="2800" dirty="0"/>
              <a:t>.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800" b="1" dirty="0"/>
              <a:t>Talking Points:</a:t>
            </a:r>
            <a:endParaRPr lang="en-GB" sz="2800" dirty="0"/>
          </a:p>
          <a:p>
            <a:r>
              <a:rPr lang="en-GB" sz="2800" dirty="0"/>
              <a:t>This is where we see profitability clearly. Channels with LTV:CAC &gt;3 are scalable; those below 1 are destroying value. We recommend reallocating spend from Paid Search and Social to Referral and Email.</a:t>
            </a:r>
          </a:p>
        </p:txBody>
      </p:sp>
    </p:spTree>
    <p:extLst>
      <p:ext uri="{BB962C8B-B14F-4D97-AF65-F5344CB8AC3E}">
        <p14:creationId xmlns:p14="http://schemas.microsoft.com/office/powerpoint/2010/main" val="2351910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A64675-E410-A92E-F15B-B379F226626D}"/>
              </a:ext>
            </a:extLst>
          </p:cNvPr>
          <p:cNvSpPr txBox="1"/>
          <p:nvPr/>
        </p:nvSpPr>
        <p:spPr>
          <a:xfrm>
            <a:off x="965200" y="393700"/>
            <a:ext cx="102997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Content: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Active users ↑ 3×</a:t>
            </a:r>
            <a:r>
              <a:rPr lang="en-GB" sz="2800" dirty="0"/>
              <a:t>, but </a:t>
            </a:r>
            <a:r>
              <a:rPr lang="en-GB" sz="2800" b="1" dirty="0"/>
              <a:t>engagement ↓ 20 points</a:t>
            </a:r>
            <a:r>
              <a:rPr lang="en-GB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Indicates </a:t>
            </a:r>
            <a:r>
              <a:rPr lang="en-GB" sz="2800" b="1" dirty="0"/>
              <a:t>acquisition without activation</a:t>
            </a:r>
            <a:r>
              <a:rPr lang="en-GB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Drop in engagement aligns with churn rise.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800" b="1" dirty="0"/>
              <a:t>Talking Points:</a:t>
            </a:r>
            <a:endParaRPr lang="en-GB" sz="2800" dirty="0"/>
          </a:p>
          <a:p>
            <a:r>
              <a:rPr lang="en-GB" sz="2800" dirty="0"/>
              <a:t>We’re attracting new customers faster than we’re engaging them. Without activation, new users churn quickly, negating marketing gains. This supports the case for a reactivation programme.</a:t>
            </a:r>
          </a:p>
        </p:txBody>
      </p:sp>
    </p:spTree>
    <p:extLst>
      <p:ext uri="{BB962C8B-B14F-4D97-AF65-F5344CB8AC3E}">
        <p14:creationId xmlns:p14="http://schemas.microsoft.com/office/powerpoint/2010/main" val="2182758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D51F55-C6FE-A41B-E00A-410E0E8A2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342126"/>
              </p:ext>
            </p:extLst>
          </p:nvPr>
        </p:nvGraphicFramePr>
        <p:xfrm>
          <a:off x="819150" y="745014"/>
          <a:ext cx="10515600" cy="3474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487871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787380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174928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 b="1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 b="1"/>
                        <a:t>Observation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 b="1" dirty="0"/>
                        <a:t>Implication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724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/>
                        <a:t>Churn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 dirty="0"/>
                        <a:t>6.9% (+1.1%)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/>
                        <a:t>Immediate retention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1726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/>
                        <a:t>Best 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 dirty="0"/>
                        <a:t>Referral (82% conv, 3.7× LTV:CAC)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/>
                        <a:t>Scalable growth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84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/>
                        <a:t>Weak 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/>
                        <a:t>Social Media (12% conv)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/>
                        <a:t>Poor ROI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2653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/>
                        <a:t>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 dirty="0"/>
                        <a:t>↓20% MoM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/>
                        <a:t>Lower activation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3649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/>
                        <a:t>Financial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2400"/>
                        <a:t>R400 000 potential annual saving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ZA" sz="2400" dirty="0"/>
                        <a:t>Reallocation opportunity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30657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CE5CA7-DA23-9E4C-52EB-FFB4887C51B7}"/>
              </a:ext>
            </a:extLst>
          </p:cNvPr>
          <p:cNvSpPr txBox="1"/>
          <p:nvPr/>
        </p:nvSpPr>
        <p:spPr>
          <a:xfrm>
            <a:off x="736600" y="4813300"/>
            <a:ext cx="107061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Talking Points:</a:t>
            </a:r>
            <a:endParaRPr lang="en-GB" sz="2800" dirty="0"/>
          </a:p>
          <a:p>
            <a:r>
              <a:rPr lang="en-GB" sz="2800" dirty="0"/>
              <a:t>The story is consistent across metrics — churn, engagement, and channel ROI all point to the same root cause: poor early engagement.</a:t>
            </a:r>
          </a:p>
        </p:txBody>
      </p:sp>
    </p:spTree>
    <p:extLst>
      <p:ext uri="{BB962C8B-B14F-4D97-AF65-F5344CB8AC3E}">
        <p14:creationId xmlns:p14="http://schemas.microsoft.com/office/powerpoint/2010/main" val="1662696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C53839-83D1-2C3C-6916-45B879B47C74}"/>
              </a:ext>
            </a:extLst>
          </p:cNvPr>
          <p:cNvSpPr txBox="1"/>
          <p:nvPr/>
        </p:nvSpPr>
        <p:spPr>
          <a:xfrm>
            <a:off x="635000" y="495300"/>
            <a:ext cx="1090930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i="1" dirty="0"/>
              <a:t>From Insights to Action</a:t>
            </a:r>
          </a:p>
          <a:p>
            <a:pPr algn="ctr"/>
            <a:endParaRPr lang="en-GB" sz="2800" dirty="0"/>
          </a:p>
          <a:p>
            <a:r>
              <a:rPr lang="en-GB" sz="2000" b="1" dirty="0"/>
              <a:t>Content:</a:t>
            </a:r>
            <a:endParaRPr lang="en-GB" sz="2000" dirty="0"/>
          </a:p>
          <a:p>
            <a:pPr marL="457200" indent="-457200">
              <a:buFont typeface="+mj-lt"/>
              <a:buAutoNum type="arabicPeriod"/>
            </a:pPr>
            <a:r>
              <a:rPr lang="en-GB" sz="2000" b="1" dirty="0"/>
              <a:t>Launch a 30-day activation programme</a:t>
            </a:r>
            <a:endParaRPr lang="en-GB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Focus on onboarding and early engagement.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Allocate 2 additional FTEs for proactive retention.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b="1" dirty="0"/>
              <a:t>Reallocate marketing spend</a:t>
            </a:r>
            <a:endParaRPr lang="en-GB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Shift 15–20% of Paid Search &amp; Social budget to Referral/Email.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b="1" dirty="0"/>
              <a:t>Automate churn prediction in dbt</a:t>
            </a:r>
            <a:endParaRPr lang="en-GB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Flag at-risk customers weekly using churn propensity scoring.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b="1" dirty="0"/>
              <a:t>Measure success</a:t>
            </a:r>
            <a:endParaRPr lang="en-GB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dirty="0"/>
              <a:t>Target: reduce churn to </a:t>
            </a:r>
            <a:r>
              <a:rPr lang="en-GB" sz="2000" b="1" dirty="0"/>
              <a:t>5.5% within 3 months</a:t>
            </a:r>
            <a:r>
              <a:rPr lang="en-GB" sz="20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pPr lvl="1"/>
            <a:endParaRPr lang="en-GB" sz="2000" dirty="0"/>
          </a:p>
          <a:p>
            <a:r>
              <a:rPr lang="en-GB" sz="2000" b="1" dirty="0"/>
              <a:t>Talking Points:</a:t>
            </a:r>
            <a:endParaRPr lang="en-GB" sz="2000" dirty="0"/>
          </a:p>
          <a:p>
            <a:r>
              <a:rPr lang="en-GB" sz="2000" dirty="0"/>
              <a:t>The plan is practical, data-backed, and measurable. Each recommendation links directly to an identified gap, ensuring accountability and financial impact.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7480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crosoft_Data_Driven_Financial_Corporate.potx" id="{AF0BB5A1-6D8A-4FE6-8E42-5BDD7830AEFF}" vid="{0057B11C-41A7-4209-873B-0AFB0F6811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Data-driven PowerPoint, from 24Slides</Template>
  <TotalTime>47</TotalTime>
  <Words>573</Words>
  <Application>Microsoft Office PowerPoint</Application>
  <PresentationFormat>Widescreen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Segoe UI Light</vt:lpstr>
      <vt:lpstr>Office Theme</vt:lpstr>
      <vt:lpstr>Slide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Itumeleng M.</dc:creator>
  <cp:lastModifiedBy>Itumeleng M.</cp:lastModifiedBy>
  <cp:revision>1</cp:revision>
  <dcterms:created xsi:type="dcterms:W3CDTF">2025-10-29T00:09:11Z</dcterms:created>
  <dcterms:modified xsi:type="dcterms:W3CDTF">2025-10-29T00:56:22Z</dcterms:modified>
</cp:coreProperties>
</file>